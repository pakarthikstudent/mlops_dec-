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63" r:id="rId5"/>
    <p:sldId id="264" r:id="rId6"/>
    <p:sldId id="265" r:id="rId7"/>
    <p:sldId id="266" r:id="rId8"/>
    <p:sldId id="259" r:id="rId9"/>
    <p:sldId id="260" r:id="rId10"/>
    <p:sldId id="261" r:id="rId11"/>
    <p:sldId id="262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BA8D10-A106-4526-9660-9030C966AB44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3BFB9D-FB59-479A-9990-E6208B6420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3253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Better Performance: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Well-engineered features provide a clearer signal for the algorithm to detect patterns, leading to more accurate predictions [2].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Faster Convergence: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Good features can help an algorithm converge to an optimal solution more quickly during training.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Improved Interpretability: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Thoughtfully designed features can make the model's decisions easier to understand and interpret.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Reduced Overfitting: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Creating meaningful features can help generalize the model better to unseen data, reducing the chances of overfitting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3BFB9D-FB59-479A-9990-E6208B642088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81607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Brainstorming/Ideation: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Using domain knowledge to come up with potential features that might be relevant to the problem.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 Collection/Preparation: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Gathering the necessary raw data and cleaning it.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Transformation: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Applying techniques to create new features or modify existing ones.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Evaluation: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Testing the effectiveness of the new features using model performance metrics (e.g., accuracy, precision, recall) [2].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Refinement: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Iterating on the process based on the evaluation results.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3BFB9D-FB59-479A-9990-E6208B642088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36097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170C1-D3CE-6BB9-A6A8-203F93D488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44060A-3BD0-3754-68D4-CAA22D8212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B06434-A214-B781-A8DA-93AE60672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9DED1-7022-41CF-9C99-210FF534B4F2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FA1BE8-E53B-271E-6594-87F832AFD6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DE9E26-5DC4-892C-97EA-E7CA2D640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14F09-6748-4437-B55F-53DC7CE7EB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49390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3767A-DD3D-43C5-73B5-E389BFA92C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996D0-80D5-FBEE-BCCB-A971F0F283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D8115A-8245-5E6C-19BC-1D079508B3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9DED1-7022-41CF-9C99-210FF534B4F2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DF6F57-2C48-5105-A550-300EFA76C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21C367-0DE0-76D9-4AF9-ED67941F9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14F09-6748-4437-B55F-53DC7CE7EB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86892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7E382-88F7-55F7-803D-0B7FF843E9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3B7FF5-EA16-7466-1FFF-66168C7258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45AEDF-2B32-84F5-23B4-1C676732BE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9DED1-7022-41CF-9C99-210FF534B4F2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03C978-496E-F6F2-D52D-51DA91530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C3C71B-FE86-9800-CD43-2858C35BD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14F09-6748-4437-B55F-53DC7CE7EB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00497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59F2CE-78BD-99FA-C474-DFBE27279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A3AD74-5353-A416-50A3-F31ED71C39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796A7D-94E4-885F-076F-66CF9DB605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ADC87B-F25D-00B4-6B7B-59F7A73CA4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9DED1-7022-41CF-9C99-210FF534B4F2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3B7575-7454-B2E8-2FF2-DC1F17C68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A3017D-BD4E-6DF1-BF35-E711BA1F3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14F09-6748-4437-B55F-53DC7CE7EB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46933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0B0C9-A080-8A66-828B-249BED6E5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E22B62-45C9-9DD0-27C8-5BA4C8CC44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CA49F7-CBC9-DF0E-90FD-7FDF0DE8D4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3914A3-0656-90C6-E0EA-AAC02DF313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0EF0150-399D-E39D-BA80-2B097342AA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850AF23-7794-6AF3-3DCA-CB4B93BB6E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9DED1-7022-41CF-9C99-210FF534B4F2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E07E85C-80AC-0D09-CBE2-D981C0796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B8FD56D-5A80-9C6B-7301-2990FCC95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14F09-6748-4437-B55F-53DC7CE7EB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0587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7B9C5-9DFE-E803-928C-D662D7DE09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0E7271-11CA-B0EB-04F0-E395FE1E5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9DED1-7022-41CF-9C99-210FF534B4F2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30C4B6-61F8-D1D8-B89D-F8D196E8E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FB7784-02E7-6602-1206-5779BAC55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14F09-6748-4437-B55F-53DC7CE7EB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81680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F26AC75-F5ED-9BA2-6A4C-AA55D7A93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9DED1-7022-41CF-9C99-210FF534B4F2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21ED3D2-EF7E-1C30-7795-FF14DDFC2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147F6A-74D5-DE55-2F81-4AC8C247B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14F09-6748-4437-B55F-53DC7CE7EB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47537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58457-B797-2A9B-5B18-C88CDD77C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E6D034-AD23-FBD9-1E3C-4DA4CF3D55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9FDFA5-1FF1-7298-C55E-32667F6E32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CB1FAC-165D-36C4-8638-C2F30350C9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9DED1-7022-41CF-9C99-210FF534B4F2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8F92CA-BBD0-5FBD-A895-C47E2C0309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EC227B-160A-B675-706E-DAA4A5DEA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14F09-6748-4437-B55F-53DC7CE7EB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45926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CCD0D8-0023-657C-A800-3A142363C4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9B59B8-46AC-E13E-158F-EB6FC6AF5B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1EBDD5-9DE7-7508-E362-BE0176739C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078CF7-52C7-9178-698F-76A4E604B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9DED1-7022-41CF-9C99-210FF534B4F2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F9F661-9468-6BC6-4000-01F6E1332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2B9B1D-05B0-C45A-5F9C-5CC25BF7B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14F09-6748-4437-B55F-53DC7CE7EB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46844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4F05F-E9AA-34E2-7834-A608CE1F5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EDD3C3-308D-3113-25DC-0264A16829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F83EBC-1A0B-20B2-4347-9CE7B81D83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9DED1-7022-41CF-9C99-210FF534B4F2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F9C7B6-4BE4-422B-80A9-043D01BECA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DE4FF5-AFF9-0185-01E6-BD9AC3A6E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14F09-6748-4437-B55F-53DC7CE7EB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47953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92B2D82-26E3-9E26-7B65-2B2ACC4B05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D8B98F-D9CD-0DE5-9C2A-16C35FE1AA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350A66-1FF2-0BB3-E710-74B593310B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9DED1-7022-41CF-9C99-210FF534B4F2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5C3541-6DAA-EC2A-8DDC-225B37702A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3B6EBA-CC68-1224-7CE7-10A1D8AF1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14F09-6748-4437-B55F-53DC7CE7EB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05233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8BD43B7-0DAE-ACA1-79B2-2C843FE951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B3D849-8101-7420-7188-430979D701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E7C115-6B7A-9CEE-4D7E-888D3D78CB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09DED1-7022-41CF-9C99-210FF534B4F2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E22D42-C88E-5B0F-9524-0D930A3AB3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96A528-30CB-5C00-C787-794523AB53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814F09-6748-4437-B55F-53DC7CE7EB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5891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3D5D9-6CFA-BEEC-2A6C-26E4F6179EF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Feature Engineering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64CB9F-9FCE-E5DF-20EF-CDE2D6E0087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en-US" dirty="0"/>
              <a:t>Palani Karthikeyan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922803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54AD1-AF65-5620-15C9-6819B755F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Feature Engineering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BE7228-B088-B1A2-D44C-C0CDF075B2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Feature Engineering is the process of:</a:t>
            </a:r>
          </a:p>
          <a:p>
            <a:pPr lvl="1"/>
            <a:r>
              <a:rPr lang="en-US" b="1" dirty="0"/>
              <a:t>Creating, transforming, or selecting meaningful variables (features)</a:t>
            </a:r>
            <a:r>
              <a:rPr lang="en-US" dirty="0"/>
              <a:t> from raw data to improve the performance of a machine learning model.</a:t>
            </a:r>
          </a:p>
          <a:p>
            <a:pPr lvl="1"/>
            <a:r>
              <a:rPr lang="en-US" dirty="0"/>
              <a:t>It’s how you turn </a:t>
            </a:r>
            <a:r>
              <a:rPr lang="en-US" b="1" dirty="0"/>
              <a:t>raw data → useful input</a:t>
            </a:r>
            <a:r>
              <a:rPr lang="en-US" dirty="0"/>
              <a:t> for your ML algorithms.</a:t>
            </a:r>
          </a:p>
          <a:p>
            <a:pPr lvl="1"/>
            <a:endParaRPr lang="en-US" dirty="0"/>
          </a:p>
          <a:p>
            <a:pPr lvl="1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917111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A1E5D5-500F-8D31-1807-E8422E508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5EF3F-4243-AFFB-2C79-C6876D788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Engineering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BDF677-E89F-CD4A-00E6-4D716A1A0D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Machine learning models learn from </a:t>
            </a:r>
            <a:r>
              <a:rPr lang="en-US" b="1" dirty="0"/>
              <a:t>features</a:t>
            </a:r>
            <a:r>
              <a:rPr lang="en-US" dirty="0"/>
              <a:t>, not raw data.</a:t>
            </a:r>
          </a:p>
          <a:p>
            <a:r>
              <a:rPr lang="en-IN" dirty="0"/>
              <a:t>Good features = smarter models.</a:t>
            </a:r>
          </a:p>
          <a:p>
            <a:r>
              <a:rPr lang="en-US" dirty="0"/>
              <a:t>Example:</a:t>
            </a:r>
          </a:p>
          <a:p>
            <a:pPr marL="0" indent="0">
              <a:buNone/>
            </a:pPr>
            <a:r>
              <a:rPr lang="en-US" dirty="0"/>
              <a:t>   Raw data: "2025-11-05"</a:t>
            </a:r>
          </a:p>
          <a:p>
            <a:pPr marL="0" indent="0">
              <a:buNone/>
            </a:pPr>
            <a:r>
              <a:rPr lang="en-US" dirty="0"/>
              <a:t>   Engineered features:</a:t>
            </a:r>
          </a:p>
          <a:p>
            <a:pPr marL="457200" lvl="1" indent="0">
              <a:buNone/>
            </a:pPr>
            <a:r>
              <a:rPr lang="en-US" dirty="0"/>
              <a:t> </a:t>
            </a:r>
            <a:r>
              <a:rPr lang="en-US" dirty="0" err="1"/>
              <a:t>day_of_week</a:t>
            </a:r>
            <a:r>
              <a:rPr lang="en-US" dirty="0"/>
              <a:t> = Wednesday</a:t>
            </a:r>
          </a:p>
          <a:p>
            <a:pPr marL="457200" lvl="1" indent="0">
              <a:buNone/>
            </a:pPr>
            <a:r>
              <a:rPr lang="en-US" dirty="0"/>
              <a:t> </a:t>
            </a:r>
            <a:r>
              <a:rPr lang="en-US" dirty="0" err="1"/>
              <a:t>is_weekend</a:t>
            </a:r>
            <a:r>
              <a:rPr lang="en-US" dirty="0"/>
              <a:t> = 0</a:t>
            </a:r>
          </a:p>
          <a:p>
            <a:pPr marL="457200" lvl="1" indent="0">
              <a:buNone/>
            </a:pPr>
            <a:r>
              <a:rPr lang="en-US" dirty="0"/>
              <a:t> month = 11</a:t>
            </a:r>
          </a:p>
          <a:p>
            <a:r>
              <a:rPr lang="en-US" dirty="0"/>
              <a:t>These extra details help the model understand </a:t>
            </a:r>
            <a:r>
              <a:rPr lang="en-US" b="1" dirty="0"/>
              <a:t>patterns</a:t>
            </a:r>
            <a:r>
              <a:rPr lang="en-US" dirty="0"/>
              <a:t> better.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059758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DC271-E4A7-AC7D-E6A3-3348237A59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68F698-3620-E56D-95B8-8F6592E3C1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goal is to </a:t>
            </a:r>
            <a:r>
              <a:rPr lang="en-US" b="1" dirty="0"/>
              <a:t>create features </a:t>
            </a:r>
            <a:r>
              <a:rPr lang="en-US" dirty="0"/>
              <a:t>that allow machine learning algorithms to model the underlying problem more accurately and effectively.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558528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1E979-A72F-61CF-0BD2-1FF397D7EC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Importance of Feature Engineering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72EB86-5EC0-EF93-A785-EA37868358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Machine learning algorithms can only </a:t>
            </a:r>
            <a:r>
              <a:rPr lang="en-US" dirty="0">
                <a:solidFill>
                  <a:srgbClr val="00B050"/>
                </a:solidFill>
              </a:rPr>
              <a:t>learn from the data </a:t>
            </a:r>
            <a:r>
              <a:rPr lang="en-US" dirty="0"/>
              <a:t>they are given. </a:t>
            </a:r>
          </a:p>
          <a:p>
            <a:r>
              <a:rPr lang="en-US" dirty="0"/>
              <a:t>If the data is </a:t>
            </a:r>
            <a:r>
              <a:rPr lang="en-US" dirty="0">
                <a:solidFill>
                  <a:srgbClr val="FF0000"/>
                </a:solidFill>
              </a:rPr>
              <a:t>poorly formatted </a:t>
            </a:r>
            <a:r>
              <a:rPr lang="en-US" dirty="0"/>
              <a:t>or </a:t>
            </a:r>
            <a:r>
              <a:rPr lang="en-US" dirty="0">
                <a:solidFill>
                  <a:srgbClr val="FF0000"/>
                </a:solidFill>
              </a:rPr>
              <a:t>does not highlight </a:t>
            </a:r>
            <a:r>
              <a:rPr lang="en-US" dirty="0"/>
              <a:t>the key information needed to solve the problem, </a:t>
            </a:r>
            <a:r>
              <a:rPr lang="en-US" dirty="0">
                <a:solidFill>
                  <a:srgbClr val="FF0000"/>
                </a:solidFill>
              </a:rPr>
              <a:t>the model will struggle</a:t>
            </a:r>
            <a:r>
              <a:rPr lang="en-US" dirty="0"/>
              <a:t>, no matter how sophisticated the algorithm. </a:t>
            </a:r>
          </a:p>
        </p:txBody>
      </p:sp>
    </p:spTree>
    <p:extLst>
      <p:ext uri="{BB962C8B-B14F-4D97-AF65-F5344CB8AC3E}">
        <p14:creationId xmlns:p14="http://schemas.microsoft.com/office/powerpoint/2010/main" val="14937647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67955-8FB9-BD90-BDEE-8070A907D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engineering is essential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DB27AB-73D6-6766-9B6A-D8D716BF6C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Feature engineering is essential because :</a:t>
            </a:r>
          </a:p>
          <a:p>
            <a:pPr lvl="1"/>
            <a:r>
              <a:rPr lang="en-IN" dirty="0"/>
              <a:t>Better Performance</a:t>
            </a:r>
          </a:p>
          <a:p>
            <a:pPr lvl="1"/>
            <a:r>
              <a:rPr lang="en-IN" dirty="0"/>
              <a:t>Faster Convergence</a:t>
            </a:r>
          </a:p>
          <a:p>
            <a:pPr lvl="1"/>
            <a:r>
              <a:rPr lang="en-IN" dirty="0"/>
              <a:t>Improved Interpretability</a:t>
            </a:r>
          </a:p>
          <a:p>
            <a:pPr lvl="1"/>
            <a:r>
              <a:rPr lang="en-IN" dirty="0"/>
              <a:t>Reduced Overfitting</a:t>
            </a:r>
          </a:p>
        </p:txBody>
      </p:sp>
    </p:spTree>
    <p:extLst>
      <p:ext uri="{BB962C8B-B14F-4D97-AF65-F5344CB8AC3E}">
        <p14:creationId xmlns:p14="http://schemas.microsoft.com/office/powerpoint/2010/main" val="37766227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A6685-5C35-102B-17FF-1FF63BD0F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 Feature Engineering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6922B2-1E3B-4868-F454-BE4D91BECC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process is typically iterative and involves a combination of domain expertise and data analysis: </a:t>
            </a:r>
          </a:p>
          <a:p>
            <a:r>
              <a:rPr lang="en-US" dirty="0"/>
              <a:t>Brainstorming/Ideation</a:t>
            </a:r>
          </a:p>
          <a:p>
            <a:r>
              <a:rPr lang="en-US" dirty="0"/>
              <a:t>Data Collection/Preparation</a:t>
            </a:r>
          </a:p>
          <a:p>
            <a:r>
              <a:rPr lang="en-US" dirty="0"/>
              <a:t>Transformation</a:t>
            </a:r>
          </a:p>
          <a:p>
            <a:r>
              <a:rPr lang="en-US" dirty="0"/>
              <a:t>Evaluation</a:t>
            </a:r>
          </a:p>
          <a:p>
            <a:r>
              <a:rPr lang="en-US" dirty="0"/>
              <a:t>Refinement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577158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2501AD-19D3-7C58-2FE4-27FD34BDEE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Common Feature Engineering Techniques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60BAE41-77C9-D1A7-75D4-22DB11A386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5871219"/>
              </p:ext>
            </p:extLst>
          </p:nvPr>
        </p:nvGraphicFramePr>
        <p:xfrm>
          <a:off x="838200" y="1527048"/>
          <a:ext cx="10123805" cy="1968644"/>
        </p:xfrm>
        <a:graphic>
          <a:graphicData uri="http://schemas.openxmlformats.org/drawingml/2006/table">
            <a:tbl>
              <a:tblPr/>
              <a:tblGrid>
                <a:gridCol w="3113405">
                  <a:extLst>
                    <a:ext uri="{9D8B030D-6E8A-4147-A177-3AD203B41FA5}">
                      <a16:colId xmlns:a16="http://schemas.microsoft.com/office/drawing/2014/main" val="267538123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97282203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643245784"/>
                    </a:ext>
                  </a:extLst>
                </a:gridCol>
              </a:tblGrid>
              <a:tr h="4921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Example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Purpose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7099155"/>
                  </a:ext>
                </a:extLst>
              </a:tr>
              <a:tr h="4921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Handling Missing Values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Fill with mean/median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Prevent errors, keep data usable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4068067"/>
                  </a:ext>
                </a:extLst>
              </a:tr>
              <a:tr h="4921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Encoding Categorical Variables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Convert “Yes/No” → 1/0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Make categorical data numeric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8144351"/>
                  </a:ext>
                </a:extLst>
              </a:tr>
              <a:tr h="4921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Feature Scaling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Normalize values to a range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Improve model convergence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57374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0125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CFC87-C670-2A07-89A8-52F0A391E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Common Feature Engineering Techniques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EF1C642-8C74-F17C-5037-EA43C4D045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934658"/>
              </p:ext>
            </p:extLst>
          </p:nvPr>
        </p:nvGraphicFramePr>
        <p:xfrm>
          <a:off x="838200" y="1408176"/>
          <a:ext cx="10515600" cy="3005148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265423146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225089334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755218786"/>
                    </a:ext>
                  </a:extLst>
                </a:gridCol>
              </a:tblGrid>
              <a:tr h="7512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Example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Purpose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2514669"/>
                  </a:ext>
                </a:extLst>
              </a:tr>
              <a:tr h="7512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Datetime Features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Extract year, month, weekday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Capture time-related patterns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9832215"/>
                  </a:ext>
                </a:extLst>
              </a:tr>
              <a:tr h="7512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Feature Interaction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Multiply or combine features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Capture relationships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6893273"/>
                  </a:ext>
                </a:extLst>
              </a:tr>
              <a:tr h="7512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Text Features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CountVectorizer, TF-IDF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Convert text into numbers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46466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879175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2299B5-5D10-5E7F-53D9-DC20117E4F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Hands 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BFCD69-5943-B500-9BB6-704B94AA16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Refer : feature_engg_demo1.ipynb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70824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84C23-FFE8-DF12-2499-2B55ECFA5E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We Did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BF2D10F-AC3E-8B64-A55E-DFE710AE3E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9300403"/>
              </p:ext>
            </p:extLst>
          </p:nvPr>
        </p:nvGraphicFramePr>
        <p:xfrm>
          <a:off x="838200" y="1690688"/>
          <a:ext cx="10515600" cy="3225005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2925659643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839796824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241516501"/>
                    </a:ext>
                  </a:extLst>
                </a:gridCol>
              </a:tblGrid>
              <a:tr h="6450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Step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Technique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8414847"/>
                  </a:ext>
                </a:extLst>
              </a:tr>
              <a:tr h="6450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Created new 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house_age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Derived from built_year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5206029"/>
                  </a:ext>
                </a:extLst>
              </a:tr>
              <a:tr h="6450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Derived ratio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price_per_sqft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Feature interaction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1864816"/>
                  </a:ext>
                </a:extLst>
              </a:tr>
              <a:tr h="6450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Encoded categorical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OneHotEncoder for city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Converts to numeric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8107583"/>
                  </a:ext>
                </a:extLst>
              </a:tr>
              <a:tr h="6450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Scaled features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StandardScaler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Normalizes numeric range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160831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83257C4C-1808-CE13-C130-4E44AD1BD6B4}"/>
              </a:ext>
            </a:extLst>
          </p:cNvPr>
          <p:cNvSpPr txBox="1"/>
          <p:nvPr/>
        </p:nvSpPr>
        <p:spPr>
          <a:xfrm>
            <a:off x="838200" y="5437555"/>
            <a:ext cx="99974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Now your dataset is </a:t>
            </a:r>
            <a:r>
              <a:rPr lang="en-US" b="1" dirty="0"/>
              <a:t>clean</a:t>
            </a:r>
            <a:r>
              <a:rPr lang="en-US" dirty="0"/>
              <a:t>, </a:t>
            </a:r>
            <a:r>
              <a:rPr lang="en-US" b="1" dirty="0"/>
              <a:t>numeric</a:t>
            </a:r>
            <a:r>
              <a:rPr lang="en-US" dirty="0"/>
              <a:t>, and </a:t>
            </a:r>
            <a:r>
              <a:rPr lang="en-US" b="1" dirty="0"/>
              <a:t>ready for ML models</a:t>
            </a:r>
            <a:r>
              <a:rPr lang="en-US" dirty="0"/>
              <a:t> like Linear Regression or Random Forest.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556044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552</Words>
  <Application>Microsoft Office PowerPoint</Application>
  <PresentationFormat>Widescreen</PresentationFormat>
  <Paragraphs>90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Courier New</vt:lpstr>
      <vt:lpstr>Office Theme</vt:lpstr>
      <vt:lpstr>Feature Engineering</vt:lpstr>
      <vt:lpstr>Feature Engineering</vt:lpstr>
      <vt:lpstr>Feature Engineering</vt:lpstr>
      <vt:lpstr>Goal</vt:lpstr>
      <vt:lpstr>The Importance of Feature Engineering</vt:lpstr>
      <vt:lpstr>Feature engineering is essential</vt:lpstr>
      <vt:lpstr>The Feature Engineering Process</vt:lpstr>
      <vt:lpstr>Common Feature Engineering Techniques</vt:lpstr>
      <vt:lpstr>Common Feature Engineering Techniques</vt:lpstr>
      <vt:lpstr>Hands on</vt:lpstr>
      <vt:lpstr>What We Did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kartheeba15@outlook.com</dc:creator>
  <cp:lastModifiedBy>kartheeba15@outlook.com</cp:lastModifiedBy>
  <cp:revision>2</cp:revision>
  <dcterms:created xsi:type="dcterms:W3CDTF">2025-11-05T17:43:01Z</dcterms:created>
  <dcterms:modified xsi:type="dcterms:W3CDTF">2025-11-05T18:11:31Z</dcterms:modified>
</cp:coreProperties>
</file>